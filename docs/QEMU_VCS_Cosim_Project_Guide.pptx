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Arial"/>
              </a:defRPr>
            </a:pPr>
            <a:r>
              <a:t>QEMU-VCS Co-simulation Platform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2560320"/>
            <a:ext cx="4846320" cy="3657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8346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CCCCC"/>
                </a:solidFill>
                <a:latin typeface="Arial"/>
              </a:defRPr>
            </a:pPr>
            <a:r>
              <a:t>DPU/SmartNIC PCIe Verification via Software-Hardware Co-simulation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7BFF"/>
                </a:solidFill>
                <a:latin typeface="Arial"/>
              </a:defRPr>
            </a:pPr>
            <a:r>
              <a:t>Phase 1 (P1): BAR MMIO Read/Write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88"/>
                </a:solidFill>
                <a:latin typeface="Arial"/>
              </a:defRPr>
            </a:pPr>
            <a:r>
              <a:t>2026-04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Project Overview &amp;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3657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BFF"/>
                </a:solidFill>
                <a:latin typeface="Arial"/>
              </a:defRPr>
            </a:pPr>
            <a:r>
              <a:t>Goal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Arial"/>
              </a:defRPr>
            </a:pPr>
            <a:r>
              <a:t>Build a co-simulation platform that connects QEMU (software model) with VCS (RTL simulator) to verify PCIe interactions of DPU/SmartNIC chips without physical hardware.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BFF"/>
                </a:solidFill>
                <a:latin typeface="Arial"/>
              </a:defRPr>
            </a:pPr>
            <a:r>
              <a:t>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00400"/>
            <a:ext cx="5029200" cy="2926080"/>
          </a:xfrm>
          <a:prstGeom prst="round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100">
                <a:solidFill>
                  <a:srgbClr val="80FF80"/>
                </a:solidFill>
                <a:latin typeface="Consolas"/>
              </a:defRPr>
            </a:pPr>
            <a:r>
              <a:t>QEMU (x86_64)              VCS (simv)</a:t>
            </a:r>
            <a:br/>
            <a:r>
              <a:t>+------------------+       +------------------+</a:t>
            </a:r>
            <a:br/>
            <a:r>
              <a:t>| cosim-pcie-rc    |       | tb_top.sv        |</a:t>
            </a:r>
            <a:br/>
            <a:r>
              <a:t>| (PCIe RC device) |       | pcie_ep_stub.sv  |</a:t>
            </a:r>
            <a:br/>
            <a:r>
              <a:t>+--------+---------+       +--------+---------+</a:t>
            </a:r>
            <a:br/>
            <a:r>
              <a:t>         |                          |</a:t>
            </a:r>
            <a:br/>
            <a:r>
              <a:t>    bridge_qemu.c            bridge_vcs.c</a:t>
            </a:r>
            <a:br/>
            <a:r>
              <a:t>         |         IPC              |</a:t>
            </a:r>
            <a:br/>
            <a:r>
              <a:t>         +-----+--------+-----------+</a:t>
            </a:r>
            <a:br/>
            <a:r>
              <a:t>               |        |</a:t>
            </a:r>
            <a:br/>
            <a:r>
              <a:t>          POSIX SHM  Unix Socket</a:t>
            </a:r>
            <a:br/>
            <a:r>
              <a:t>        (Ring Buffers) (Sync Msgs)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BFF"/>
                </a:solidFill>
                <a:latin typeface="Arial"/>
              </a:defRPr>
            </a:pPr>
            <a:r>
              <a:t>Key Components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5544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007BFF"/>
                </a:solidFill>
                <a:latin typeface="Arial"/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Bridge Library: C library providing SHM ring buffers + socket sync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007BFF"/>
                </a:solidFill>
                <a:latin typeface="Arial"/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QEMU Plugin (cosim-pcie-rc): Custom PCIe Root Complex device in QEMU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007BFF"/>
                </a:solidFill>
                <a:latin typeface="Arial"/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VCS Testbench: SystemVerilog TB with DPI-C calls to bridge library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007BFF"/>
                </a:solidFill>
                <a:latin typeface="Arial"/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PCIe EP Stub: 16x32-bit register file simulating endpoint device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007BFF"/>
                </a:solidFill>
                <a:latin typeface="Arial"/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IPC Layer: POSIX shared memory for data, Unix socket for control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007BFF"/>
                </a:solidFill>
                <a:latin typeface="Arial"/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TLP Protocol: MRd/MWr/Completion packets in ring buffer entries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007BFF"/>
                </a:solidFill>
                <a:latin typeface="Arial"/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Lock-free Design: Single-producer single-consumer ring buffers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007BFF"/>
                </a:solidFill>
                <a:latin typeface="Arial"/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E2E Test: Standalone C program simulating QEMU side for validation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Environment Preparation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3657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Arial"/>
              </a:defRPr>
            </a:pPr>
            <a:r>
              <a:t>Server: 10.11.10.61:2222 (CentOS 7 Docker)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4545"/>
                </a:solidFill>
                <a:latin typeface="Arial"/>
              </a:defRPr>
            </a:pPr>
            <a:r>
              <a:t>Challenges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FF4545"/>
                </a:solidFill>
                <a:latin typeface="Arial"/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System GCC 4.8.5: missing &lt;stdatomic.h&gt; (C11)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FF4545"/>
                </a:solidFill>
                <a:latin typeface="Arial"/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System Python 3.6: QEMU 9.2 needs &gt;= 3.8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FF4545"/>
                </a:solidFill>
                <a:latin typeface="Arial"/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System glib 2.56: QEMU needs &gt;= 2.66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FF4545"/>
                </a:solidFill>
                <a:latin typeface="Arial"/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No sudo access, no yum install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FF4545"/>
                </a:solidFill>
                <a:latin typeface="Arial"/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No git available (QEMU subproject fetch fails)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853"/>
                </a:solidFill>
                <a:latin typeface="Arial"/>
              </a:defRPr>
            </a:pPr>
            <a:r>
              <a:t>Solutions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00C853"/>
                </a:solidFill>
                <a:latin typeface="Arial"/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GCC 9.3 from Cadence Spectre EDA toolchain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00C853"/>
                </a:solidFill>
                <a:latin typeface="Arial"/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Miniconda for Python 3.10 + pip packages (tomli)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00C853"/>
                </a:solidFill>
                <a:latin typeface="Arial"/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conda install glib 2.86 from conda-forge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00C853"/>
                </a:solidFill>
                <a:latin typeface="Arial"/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QEMU configure: --disable-fdt to skip git dependency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00C853"/>
                </a:solidFill>
                <a:latin typeface="Arial"/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All tools discovered from /opt/cadence/... paths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0972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BFF"/>
                </a:solidFill>
                <a:latin typeface="Arial"/>
              </a:defRPr>
            </a:pPr>
            <a:r>
              <a:t>Environment Init Commands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303520" cy="4754880"/>
          </a:xfrm>
          <a:prstGeom prst="round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000">
                <a:solidFill>
                  <a:srgbClr val="80FF80"/>
                </a:solidFill>
                <a:latin typeface="Consolas"/>
              </a:defRPr>
            </a:pPr>
            <a:r>
              <a:t># GCC 9.3 (from Cadence EDA)</a:t>
            </a:r>
            <a:br/>
            <a:r>
              <a:t>export PATH=/opt/cadence/spectre21/tools.lnx86\</a:t>
            </a:r>
            <a:br/>
            <a:r>
              <a:t>  /cdsgcc/gcc/9.3/install/bin:$PATH</a:t>
            </a:r>
            <a:br/>
            <a:br/>
            <a:r>
              <a:t># Python 3.10 (Miniconda)</a:t>
            </a:r>
            <a:br/>
            <a:r>
              <a:t>export PATH=$HOME/miniconda3/bin:$PATH</a:t>
            </a:r>
            <a:br/>
            <a:br/>
            <a:r>
              <a:t># glib from conda</a:t>
            </a:r>
            <a:br/>
            <a:r>
              <a:t>export PKG_CONFIG_PATH=$HOME/miniconda3/lib\</a:t>
            </a:r>
            <a:br/>
            <a:r>
              <a:t>  /pkgconfig:$PKG_CONFIG_PATH</a:t>
            </a:r>
            <a:br/>
            <a:r>
              <a:t>export LD_LIBRARY_PATH=$HOME/miniconda3/lib\</a:t>
            </a:r>
            <a:br/>
            <a:r>
              <a:t>  :$LD_LIBRARY_PATH</a:t>
            </a:r>
            <a:br/>
            <a:br/>
            <a:r>
              <a:t># VCS</a:t>
            </a:r>
            <a:br/>
            <a:r>
              <a:t>export VCS_HOME=/opt/synopsys/vcs/U-2023.03</a:t>
            </a:r>
            <a:br/>
            <a:r>
              <a:t>export PATH=$VCS_HOME/bin:$PATH</a:t>
            </a:r>
            <a:br/>
            <a:br/>
            <a:r>
              <a:t># Verify</a:t>
            </a:r>
            <a:br/>
            <a:r>
              <a:t>gcc --version   # 9.3.0</a:t>
            </a:r>
            <a:br/>
            <a:r>
              <a:t>python3 --version  # 3.10.x</a:t>
            </a:r>
            <a:br/>
            <a:r>
              <a:t>vcs -ID  # U-2023.03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Step 1: Bridge Library Build &amp; Test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3657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400" y="365760"/>
            <a:ext cx="1828800" cy="32004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18288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PASSED 15/15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BFF"/>
                </a:solidFill>
                <a:latin typeface="Arial"/>
              </a:defRPr>
            </a:pPr>
            <a:r>
              <a:t>Build Commands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5486400" cy="3200400"/>
          </a:xfrm>
          <a:prstGeom prst="round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100">
                <a:solidFill>
                  <a:srgbClr val="80FF80"/>
                </a:solidFill>
                <a:latin typeface="Consolas"/>
              </a:defRPr>
            </a:pPr>
            <a:r>
              <a:t>cd /home/ryan/workspace/cosim-platform</a:t>
            </a:r>
            <a:br/>
            <a:r>
              <a:t>mkdir -p build &amp;&amp; cd build</a:t>
            </a:r>
            <a:br/>
            <a:br/>
            <a:r>
              <a:t>cmake .. \</a:t>
            </a:r>
            <a:br/>
            <a:r>
              <a:t>  -DCMAKE_C_COMPILER=/opt/cadence/spectre21/\</a:t>
            </a:r>
            <a:br/>
            <a:r>
              <a:t>    tools.lnx86/cdsgcc/gcc/9.3/install/bin/gcc \</a:t>
            </a:r>
            <a:br/>
            <a:r>
              <a:t>  -DCMAKE_BUILD_TYPE=Debug</a:t>
            </a:r>
            <a:br/>
            <a:br/>
            <a:r>
              <a:t>make -j$(nproc)</a:t>
            </a:r>
            <a:br/>
            <a:br/>
            <a:r>
              <a:t># Run unit tests</a:t>
            </a:r>
            <a:br/>
            <a:r>
              <a:t>./test_shm_layout    # 5/5 PASS</a:t>
            </a:r>
            <a:br/>
            <a:r>
              <a:t>./test_ring_buf      # 5/5 PASS</a:t>
            </a:r>
            <a:br/>
            <a:r>
              <a:t>./test_sock_sync     # 5/5 PASS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BFF"/>
                </a:solidFill>
                <a:latin typeface="Arial"/>
              </a:defRPr>
            </a:pPr>
            <a:r>
              <a:t>Library Files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864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007BFF"/>
                </a:solidFill>
                <a:latin typeface="Arial"/>
              </a:rPr>
              <a:t>▸ </a:t>
            </a:r>
            <a:r>
              <a:rPr sz="1200">
                <a:solidFill>
                  <a:srgbClr val="FFFFFF"/>
                </a:solidFill>
                <a:latin typeface="Arial"/>
              </a:rPr>
              <a:t>shm_layout.c/h - POSIX SHM create/open/close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007BFF"/>
                </a:solidFill>
                <a:latin typeface="Arial"/>
              </a:rPr>
              <a:t>▸ </a:t>
            </a:r>
            <a:r>
              <a:rPr sz="1200">
                <a:solidFill>
                  <a:srgbClr val="FFFFFF"/>
                </a:solidFill>
                <a:latin typeface="Arial"/>
              </a:rPr>
              <a:t>ring_buf.c/h - Lock-free SPSC ring buffer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007BFF"/>
                </a:solidFill>
                <a:latin typeface="Arial"/>
              </a:rPr>
              <a:t>▸ </a:t>
            </a:r>
            <a:r>
              <a:rPr sz="1200">
                <a:solidFill>
                  <a:srgbClr val="FFFFFF"/>
                </a:solidFill>
                <a:latin typeface="Arial"/>
              </a:rPr>
              <a:t>sock_sync.c/h - Unix domain socket sync protocol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007BFF"/>
                </a:solidFill>
                <a:latin typeface="Arial"/>
              </a:rPr>
              <a:t>▸ </a:t>
            </a:r>
            <a:r>
              <a:rPr sz="1200">
                <a:solidFill>
                  <a:srgbClr val="FFFFFF"/>
                </a:solidFill>
                <a:latin typeface="Arial"/>
              </a:rPr>
              <a:t>cosim_types.h - TLP/Completion/Sync message types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BFF"/>
                </a:solidFill>
                <a:latin typeface="Arial"/>
              </a:defRPr>
            </a:pPr>
            <a:r>
              <a:t>Test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53"/>
                </a:solidFill>
                <a:latin typeface="Arial"/>
              </a:defRPr>
            </a:pPr>
            <a:r>
              <a:t>test_shm_layout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9659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Arial"/>
              </a:defRPr>
            </a:pPr>
            <a:r>
              <a:t>  PASS  SHM create/open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1945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Arial"/>
              </a:defRPr>
            </a:pPr>
            <a:r>
              <a:t>  PASS  Ring buffer pointer validity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4231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Arial"/>
              </a:defRPr>
            </a:pPr>
            <a:r>
              <a:t>  PASS  SHM size verification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6517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Arial"/>
              </a:defRPr>
            </a:pPr>
            <a:r>
              <a:t>  PASS  Multiple open/close cycles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8803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Arial"/>
              </a:defRPr>
            </a:pPr>
            <a:r>
              <a:t>  PASS  Cleanup on unlink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461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53"/>
                </a:solidFill>
                <a:latin typeface="Arial"/>
              </a:defRPr>
            </a:pPr>
            <a:r>
              <a:t>test_ring_buf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35661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Arial"/>
              </a:defRPr>
            </a:pPr>
            <a:r>
              <a:t>  PASS  Enqueue/dequeue single entry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7947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Arial"/>
              </a:defRPr>
            </a:pPr>
            <a:r>
              <a:t>  PASS  FIFO ordering preserved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40233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Arial"/>
              </a:defRPr>
            </a:pPr>
            <a:r>
              <a:t>  PASS  Full buffer 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2519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Arial"/>
              </a:defRPr>
            </a:pPr>
            <a:r>
              <a:t>  PASS  Empty buffer detection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4805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Arial"/>
              </a:defRPr>
            </a:pPr>
            <a:r>
              <a:t>  PASS  Wrap-around correctness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846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853"/>
                </a:solidFill>
                <a:latin typeface="Arial"/>
              </a:defRPr>
            </a:pPr>
            <a:r>
              <a:t>test_sock_sync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51663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Arial"/>
              </a:defRPr>
            </a:pPr>
            <a:r>
              <a:t>  PASS  Listen/accept/connect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53949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Arial"/>
              </a:defRPr>
            </a:pPr>
            <a:r>
              <a:t>  PASS  Send/recv sync messages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56235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Arial"/>
              </a:defRPr>
            </a:pPr>
            <a:r>
              <a:t>  PASS  TLP_READY notification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58521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Arial"/>
              </a:defRPr>
            </a:pPr>
            <a:r>
              <a:t>  PASS  CPL_READY notification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60807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Arial"/>
              </a:defRPr>
            </a:pPr>
            <a:r>
              <a:t>  PASS  SHUTDOWN handshake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Step 2: QEMU 9.2.0 Compilation with cosim-pcie-rc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3657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400" y="365760"/>
            <a:ext cx="1645920" cy="32004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18288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BUILD 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BFF"/>
                </a:solidFill>
                <a:latin typeface="Arial"/>
              </a:defRPr>
            </a:pPr>
            <a:r>
              <a:t>Integration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007BFF"/>
                </a:solidFill>
                <a:latin typeface="Arial"/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Copy cosim_pcie_rc.c to qemu-9.2.0/hw/net/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007BFF"/>
                </a:solidFill>
                <a:latin typeface="Arial"/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Copy cosim_pcie_rc.h to qemu-9.2.0/include/hw/net/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007BFF"/>
                </a:solidFill>
                <a:latin typeface="Arial"/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Add meson.build entry in hw/net/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007BFF"/>
                </a:solidFill>
                <a:latin typeface="Arial"/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Copy bridge library sources to qemu source tree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007BFF"/>
                </a:solidFill>
                <a:latin typeface="Arial"/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Fix include paths: hw/net/cosim_pcie_rc.h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007BFF"/>
                </a:solidFill>
                <a:latin typeface="Arial"/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Configure with --disable-fdt --target-list=x86_64-softmmu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657600"/>
            <a:ext cx="5486400" cy="2926080"/>
          </a:xfrm>
          <a:prstGeom prst="round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000">
                <a:solidFill>
                  <a:srgbClr val="80FF80"/>
                </a:solidFill>
                <a:latin typeface="Consolas"/>
              </a:defRPr>
            </a:pPr>
            <a:r>
              <a:t>cd /home/ryan/workspace/qemu-9.2.0</a:t>
            </a:r>
            <a:br/>
            <a:br/>
            <a:r>
              <a:t># Configure</a:t>
            </a:r>
            <a:br/>
            <a:r>
              <a:t>./configure \</a:t>
            </a:r>
            <a:br/>
            <a:r>
              <a:t>  --target-list=x86_64-softmmu \</a:t>
            </a:r>
            <a:br/>
            <a:r>
              <a:t>  --disable-fdt \</a:t>
            </a:r>
            <a:br/>
            <a:r>
              <a:t>  --cc=/opt/.../gcc/9.3/.../gcc \</a:t>
            </a:r>
            <a:br/>
            <a:r>
              <a:t>  --python=$HOME/miniconda3/bin/python3</a:t>
            </a:r>
            <a:br/>
            <a:br/>
            <a:r>
              <a:t># Build (takes ~15 min)</a:t>
            </a:r>
            <a:br/>
            <a:r>
              <a:t>cd build &amp;&amp; ninja -j$(nproc)</a:t>
            </a:r>
            <a:br/>
            <a:br/>
            <a:r>
              <a:t># Verify binary (101MB)</a:t>
            </a:r>
            <a:br/>
            <a:r>
              <a:t>ls -lh qemu-system-x86_64</a:t>
            </a:r>
            <a:br/>
            <a:br/>
            <a:r>
              <a:t># Check device registered</a:t>
            </a:r>
            <a:br/>
            <a:r>
              <a:t>./qemu-system-x86_64 -device help | grep cosim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Arial"/>
              </a:defRPr>
            </a:pPr>
            <a:r>
              <a:t>Pitfalls Encountered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FF8C00"/>
                </a:solidFill>
                <a:latin typeface="Arial"/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GCC 4.8 lacks C11 stdatomic.h -&gt; use Cadence GCC 9.3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FF8C00"/>
                </a:solidFill>
                <a:latin typeface="Arial"/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Python 3.6 too old -&gt; Miniconda Python 3.10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FF8C00"/>
                </a:solidFill>
                <a:latin typeface="Arial"/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Missing tomli package -&gt; pip install tomli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FF8C00"/>
                </a:solidFill>
                <a:latin typeface="Arial"/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glib 2.56 too old -&gt; conda install glib (2.86)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FF8C00"/>
                </a:solidFill>
                <a:latin typeface="Arial"/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No git for dtc subproject -&gt; --disable-fdt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FF8C00"/>
                </a:solidFill>
                <a:latin typeface="Arial"/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Include path: cosim_pcie_rc.h -&gt; hw/net/cosim_pcie_rc.h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FF8C00"/>
                </a:solidFill>
                <a:latin typeface="Arial"/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Link bridge .c files directly into QEMU meson.build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FF8C00"/>
                </a:solidFill>
                <a:latin typeface="Arial"/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PKG_CONFIG_PATH must include conda's pkgconfig dir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Step 3: VCS Testbench Compilation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3657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400" y="365760"/>
            <a:ext cx="1645920" cy="32004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18288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BUILD 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BFF"/>
                </a:solidFill>
                <a:latin typeface="Arial"/>
              </a:defRPr>
            </a:pPr>
            <a:r>
              <a:t>VCS Compile Command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5486400" cy="3200400"/>
          </a:xfrm>
          <a:prstGeom prst="round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000">
                <a:solidFill>
                  <a:srgbClr val="80FF80"/>
                </a:solidFill>
                <a:latin typeface="Consolas"/>
              </a:defRPr>
            </a:pPr>
            <a:r>
              <a:t>cd /home/ryan/workspace/cosim-platform/vcs-tb</a:t>
            </a:r>
            <a:br/>
            <a:br/>
            <a:r>
              <a:t>vcs -sverilog -full64 -debug_all \</a:t>
            </a:r>
            <a:br/>
            <a:r>
              <a:t>  +incdir+../bridge/vcs \</a:t>
            </a:r>
            <a:br/>
            <a:r>
              <a:t>  +incdir+../include \</a:t>
            </a:r>
            <a:br/>
            <a:r>
              <a:t>  ../bridge/vcs/bridge_vcs.sv \</a:t>
            </a:r>
            <a:br/>
            <a:r>
              <a:t>  tb_top.sv \</a:t>
            </a:r>
            <a:br/>
            <a:r>
              <a:t>  pcie_ep_stub.sv \</a:t>
            </a:r>
            <a:br/>
            <a:r>
              <a:t>  -CFLAGS "-I../include" \</a:t>
            </a:r>
            <a:br/>
            <a:r>
              <a:t>  ../bridge/vcs/bridge_vcs.c \</a:t>
            </a:r>
            <a:br/>
            <a:r>
              <a:t>  ../bridge/common/shm_layout.c \</a:t>
            </a:r>
            <a:br/>
            <a:r>
              <a:t>  ../bridge/common/ring_buf.c \</a:t>
            </a:r>
            <a:br/>
            <a:r>
              <a:t>  ../bridge/vcs/sock_sync_vcs.c \</a:t>
            </a:r>
            <a:br/>
            <a:r>
              <a:t>  -LDFLAGS "-lrt -lpthread" \</a:t>
            </a:r>
            <a:br/>
            <a:r>
              <a:t>  -o sim_build/simv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BFF"/>
                </a:solidFill>
                <a:latin typeface="Arial"/>
              </a:defRPr>
            </a:pPr>
            <a:r>
              <a:t>Testbench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864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007BFF"/>
                </a:solidFill>
                <a:latin typeface="Arial"/>
              </a:rPr>
              <a:t>▸ </a:t>
            </a:r>
            <a:r>
              <a:rPr sz="1200">
                <a:solidFill>
                  <a:srgbClr val="FFFFFF"/>
                </a:solidFill>
                <a:latin typeface="Arial"/>
              </a:rPr>
              <a:t>tb_top.sv: Clock gen, reset, DPI-C bridge calls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007BFF"/>
                </a:solidFill>
                <a:latin typeface="Arial"/>
              </a:rPr>
              <a:t>▸ </a:t>
            </a:r>
            <a:r>
              <a:rPr sz="1200">
                <a:solidFill>
                  <a:srgbClr val="FFFFFF"/>
                </a:solidFill>
                <a:latin typeface="Arial"/>
              </a:rPr>
              <a:t>pcie_ep_stub.sv: 16-reg PCIe endpoint model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007BFF"/>
                </a:solidFill>
                <a:latin typeface="Arial"/>
              </a:rPr>
              <a:t>▸ </a:t>
            </a:r>
            <a:r>
              <a:rPr sz="1200">
                <a:solidFill>
                  <a:srgbClr val="FFFFFF"/>
                </a:solidFill>
                <a:latin typeface="Arial"/>
              </a:rPr>
              <a:t>bridge_vcs.sv: DPI-C import declarations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>
                <a:solidFill>
                  <a:srgbClr val="007BFF"/>
                </a:solidFill>
                <a:latin typeface="Arial"/>
              </a:rPr>
              <a:t>▸ </a:t>
            </a:r>
            <a:r>
              <a:rPr sz="1200">
                <a:solidFill>
                  <a:srgbClr val="FFFFFF"/>
                </a:solidFill>
                <a:latin typeface="Arial"/>
              </a:rPr>
              <a:t>bridge_vcs.c: C-side DPI functions (SHM+Socket)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Arial"/>
              </a:defRPr>
            </a:pPr>
            <a:r>
              <a:t>Pitfalls &amp; Fixes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FF8C00"/>
                </a:solidFill>
                <a:latin typeface="Arial"/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ICPD error: regs driven by both initial and always_ff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FF8C00"/>
                </a:solidFill>
                <a:latin typeface="Arial"/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  Fix: move init values into always_ff reset branch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FF8C00"/>
                </a:solidFill>
                <a:latin typeface="Arial"/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Duplicate symbol: sock_sync linked twice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FF8C00"/>
                </a:solidFill>
                <a:latin typeface="Arial"/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  Fix: use sock_sync_vcs.c only (not sock_sync.c)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FF8C00"/>
                </a:solidFill>
                <a:latin typeface="Arial"/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DPI-C type mismatch: SV int vs C uint32_t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FF8C00"/>
                </a:solidFill>
                <a:latin typeface="Arial"/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  Fix: consistent type mapping in bridge_vcs.sv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114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BFF"/>
                </a:solidFill>
                <a:latin typeface="Arial"/>
              </a:defRPr>
            </a:pPr>
            <a:r>
              <a:t>EP Stub Register Map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572000"/>
            <a:ext cx="5029200" cy="2011680"/>
          </a:xfrm>
          <a:prstGeom prst="round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000">
                <a:solidFill>
                  <a:srgbClr val="80FF80"/>
                </a:solidFill>
                <a:latin typeface="Consolas"/>
              </a:defRPr>
            </a:pPr>
            <a:r>
              <a:t>Address   Register   Reset Value</a:t>
            </a:r>
            <a:br/>
            <a:r>
              <a:t>0x00      regs[0]    0xDEAD_0000</a:t>
            </a:r>
            <a:br/>
            <a:r>
              <a:t>0x04      regs[1]    0xDEAD_0001</a:t>
            </a:r>
            <a:br/>
            <a:r>
              <a:t>0x08      regs[2]    0xDEAD_0002</a:t>
            </a:r>
            <a:br/>
            <a:r>
              <a:t>  ...       ...         ...</a:t>
            </a:r>
            <a:br/>
            <a:r>
              <a:t>0x14      regs[5]    0xDEAD_0005</a:t>
            </a:r>
            <a:br/>
            <a:r>
              <a:t>  ...       ...         ...</a:t>
            </a:r>
            <a:br/>
            <a:r>
              <a:t>0x3C      regs[15]   0xDEAD_000F</a:t>
            </a:r>
            <a:br/>
            <a:br/>
            <a:r>
              <a:t>Index = addr[5:2], 16 x 32-bit regs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Step 4: E2E Integration Test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3657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058400" y="365760"/>
            <a:ext cx="1828800" cy="32004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tIns="18288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PASSED 13/13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BFF"/>
                </a:solidFill>
                <a:latin typeface="Arial"/>
              </a:defRPr>
            </a:pPr>
            <a:r>
              <a:t>Test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007BFF"/>
                </a:solidFill>
                <a:latin typeface="Arial"/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1. test_vcs_e2e creates SHM + Socket, waits for VCS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007BFF"/>
                </a:solidFill>
                <a:latin typeface="Arial"/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2. VCS simv connects via DPI-C bridge_vcs_init()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007BFF"/>
                </a:solidFill>
                <a:latin typeface="Arial"/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3. Test sends MRd TLP (addr=0x00) -&gt; expects 0xDEAD0000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007BFF"/>
                </a:solidFill>
                <a:latin typeface="Arial"/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4. VCS reads TLP, EP stub returns reg[0], sends Completion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007BFF"/>
                </a:solidFill>
                <a:latin typeface="Arial"/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5. Test sends MWr TLP (addr=0x00, data=0x12345678)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007BFF"/>
                </a:solidFill>
                <a:latin typeface="Arial"/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6. VCS writes to EP stub reg[0]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007BFF"/>
                </a:solidFill>
                <a:latin typeface="Arial"/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7. Test sends MRd (addr=0x00) -&gt; expects 0x12345678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007BFF"/>
                </a:solidFill>
                <a:latin typeface="Arial"/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8. Test sends MRd (addr=0x14) -&gt; expects 0xDEAD0005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007BFF"/>
                </a:solidFill>
                <a:latin typeface="Arial"/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9. Test sends SHUTDOWN, both sides cleanup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BFF"/>
                </a:solidFill>
                <a:latin typeface="Arial"/>
              </a:defRPr>
            </a:pPr>
            <a:r>
              <a:t>Run Commands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029200"/>
            <a:ext cx="5486400" cy="1645920"/>
          </a:xfrm>
          <a:prstGeom prst="round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000">
                <a:solidFill>
                  <a:srgbClr val="80FF80"/>
                </a:solidFill>
                <a:latin typeface="Consolas"/>
              </a:defRPr>
            </a:pPr>
            <a:r>
              <a:t># Terminal 1: Start test (QEMU simulator)</a:t>
            </a:r>
            <a:br/>
            <a:r>
              <a:t>./build/test_vcs_e2e</a:t>
            </a:r>
            <a:br/>
            <a:r>
              <a:t># Waits for VCS to connect...</a:t>
            </a:r>
            <a:br/>
            <a:br/>
            <a:r>
              <a:t># Terminal 2: Start VCS simv</a:t>
            </a:r>
            <a:br/>
            <a:r>
              <a:t>./vcs-tb/sim_build/simv \</a:t>
            </a:r>
            <a:br/>
            <a:r>
              <a:t>  +cosim_shm=/cosim_e2e_test \</a:t>
            </a:r>
            <a:br/>
            <a:r>
              <a:t>  +cosim_sock=/tmp/cosim_e2e_test.sock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BFF"/>
                </a:solidFill>
                <a:latin typeface="Arial"/>
              </a:defRPr>
            </a:pPr>
            <a:r>
              <a:t>Detailed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853"/>
                </a:solidFill>
                <a:latin typeface="Arial"/>
              </a:defRPr>
            </a:pPr>
            <a:r>
              <a:t>Test 1: MRd register 0 (expect 0xDEAD0000)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192024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Arial"/>
              </a:defRPr>
            </a:pPr>
            <a:r>
              <a:t>  PASS  enqueue MRd TLP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12140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Arial"/>
              </a:defRPr>
            </a:pPr>
            <a:r>
              <a:t>  PASS  recv CPL notification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322576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Arial"/>
              </a:defRPr>
            </a:pPr>
            <a:r>
              <a:t>  PASS  dequeue completion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523744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Arial"/>
              </a:defRPr>
            </a:pPr>
            <a:r>
              <a:t>  PASS  register 0 value == 0xDEAD0000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8620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853"/>
                </a:solidFill>
                <a:latin typeface="Arial"/>
              </a:defRPr>
            </a:pPr>
            <a:r>
              <a:t>Test 2: MWr register 0 (expect write 0x12345678)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13639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Arial"/>
              </a:defRPr>
            </a:pPr>
            <a:r>
              <a:t>  PASS  enqueue MWr TLP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4747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853"/>
                </a:solidFill>
                <a:latin typeface="Arial"/>
              </a:defRPr>
            </a:pPr>
            <a:r>
              <a:t>Test 3: MRd register 0 after write (expect 0x12345678)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749040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Arial"/>
              </a:defRPr>
            </a:pPr>
            <a:r>
              <a:t>  PASS  enqueue MRd TLP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950208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Arial"/>
              </a:defRPr>
            </a:pPr>
            <a:r>
              <a:t>  PASS  recv CPL notification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151376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Arial"/>
              </a:defRPr>
            </a:pPr>
            <a:r>
              <a:t>  PASS  dequeue completion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352544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Arial"/>
              </a:defRPr>
            </a:pPr>
            <a:r>
              <a:t>  PASS  register 0 value == 0x12345678 after write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6908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C853"/>
                </a:solidFill>
                <a:latin typeface="Arial"/>
              </a:defRPr>
            </a:pPr>
            <a:r>
              <a:t>Test 4: MRd register 5 (expect 0xDEAD0005)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4965192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Arial"/>
              </a:defRPr>
            </a:pPr>
            <a:r>
              <a:t>  PASS  enqueue MRd TLP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5166359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Arial"/>
              </a:defRPr>
            </a:pPr>
            <a:r>
              <a:t>  PASS  recv CPL notification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5367527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Arial"/>
              </a:defRPr>
            </a:pPr>
            <a:r>
              <a:t>  PASS  dequeue completion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5568695"/>
            <a:ext cx="4572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Arial"/>
              </a:defRPr>
            </a:pPr>
            <a:r>
              <a:t>  PASS  register 5 value == 0xDEAD0005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Current Project Status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3657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C853"/>
                </a:solidFill>
                <a:latin typeface="Arial"/>
              </a:defRPr>
            </a:pPr>
            <a:r>
              <a:t>Completed (P1)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00C853"/>
                </a:solidFill>
                <a:latin typeface="Arial"/>
              </a:rPr>
              <a:t>▸ </a:t>
            </a:r>
            <a:r>
              <a:rPr sz="1400">
                <a:solidFill>
                  <a:srgbClr val="FFFFFF"/>
                </a:solidFill>
                <a:latin typeface="Arial"/>
              </a:rPr>
              <a:t>Bridge library: SHM + Ring Buffer + Socket Sync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00C853"/>
                </a:solidFill>
                <a:latin typeface="Arial"/>
              </a:rPr>
              <a:t>▸ </a:t>
            </a:r>
            <a:r>
              <a:rPr sz="1400">
                <a:solidFill>
                  <a:srgbClr val="FFFFFF"/>
                </a:solidFill>
                <a:latin typeface="Arial"/>
              </a:rPr>
              <a:t>Unit tests: 15/15 passing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00C853"/>
                </a:solidFill>
                <a:latin typeface="Arial"/>
              </a:rPr>
              <a:t>▸ </a:t>
            </a:r>
            <a:r>
              <a:rPr sz="1400">
                <a:solidFill>
                  <a:srgbClr val="FFFFFF"/>
                </a:solidFill>
                <a:latin typeface="Arial"/>
              </a:rPr>
              <a:t>QEMU 9.2.0 compiled with cosim-pcie-rc device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00C853"/>
                </a:solidFill>
                <a:latin typeface="Arial"/>
              </a:rPr>
              <a:t>▸ </a:t>
            </a:r>
            <a:r>
              <a:rPr sz="1400">
                <a:solidFill>
                  <a:srgbClr val="FFFFFF"/>
                </a:solidFill>
                <a:latin typeface="Arial"/>
              </a:rPr>
              <a:t>VCS testbench compiled with DPI-C bridge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00C853"/>
                </a:solidFill>
                <a:latin typeface="Arial"/>
              </a:rPr>
              <a:t>▸ </a:t>
            </a:r>
            <a:r>
              <a:rPr sz="1400">
                <a:solidFill>
                  <a:srgbClr val="FFFFFF"/>
                </a:solidFill>
                <a:latin typeface="Arial"/>
              </a:rPr>
              <a:t>PCIe EP stub with 16x32-bit register file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00C853"/>
                </a:solidFill>
                <a:latin typeface="Arial"/>
              </a:rPr>
              <a:t>▸ </a:t>
            </a:r>
            <a:r>
              <a:rPr sz="1400">
                <a:solidFill>
                  <a:srgbClr val="FFFFFF"/>
                </a:solidFill>
                <a:latin typeface="Arial"/>
              </a:rPr>
              <a:t>E2E integration test: 13/13 passing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00C853"/>
                </a:solidFill>
                <a:latin typeface="Arial"/>
              </a:rPr>
              <a:t>▸ </a:t>
            </a:r>
            <a:r>
              <a:rPr sz="1400">
                <a:solidFill>
                  <a:srgbClr val="FFFFFF"/>
                </a:solidFill>
                <a:latin typeface="Arial"/>
              </a:rPr>
              <a:t>BAR MMIO read/write path fully verified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00C853"/>
                </a:solidFill>
                <a:latin typeface="Arial"/>
              </a:rPr>
              <a:t>▸ </a:t>
            </a:r>
            <a:r>
              <a:rPr sz="1400">
                <a:solidFill>
                  <a:srgbClr val="FFFFFF"/>
                </a:solidFill>
                <a:latin typeface="Arial"/>
              </a:rPr>
              <a:t>Write-then-read-back correctness confirmed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8C00"/>
                </a:solidFill>
                <a:latin typeface="Arial"/>
              </a:defRPr>
            </a:pPr>
            <a:r>
              <a:t>Pending /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FF8C00"/>
                </a:solidFill>
                <a:latin typeface="Arial"/>
              </a:rPr>
              <a:t>▸ </a:t>
            </a:r>
            <a:r>
              <a:rPr sz="1400">
                <a:solidFill>
                  <a:srgbClr val="FFFFFF"/>
                </a:solidFill>
                <a:latin typeface="Arial"/>
              </a:rPr>
              <a:t>QEMU guest kernel boot test (P1 completion)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FF8C00"/>
                </a:solidFill>
                <a:latin typeface="Arial"/>
              </a:rPr>
              <a:t>▸ </a:t>
            </a:r>
            <a:r>
              <a:rPr sz="1400">
                <a:solidFill>
                  <a:srgbClr val="FFFFFF"/>
                </a:solidFill>
                <a:latin typeface="Arial"/>
              </a:rPr>
              <a:t>Full QEMU + VCS live co-simulation test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FF8C00"/>
                </a:solidFill>
                <a:latin typeface="Arial"/>
              </a:rPr>
              <a:t>▸ </a:t>
            </a:r>
            <a:r>
              <a:rPr sz="1400">
                <a:solidFill>
                  <a:srgbClr val="FFFFFF"/>
                </a:solidFill>
                <a:latin typeface="Arial"/>
              </a:rPr>
              <a:t>P2: DMA engine (Host-to-Card / Card-to-Host)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FF8C00"/>
                </a:solidFill>
                <a:latin typeface="Arial"/>
              </a:rPr>
              <a:t>▸ </a:t>
            </a:r>
            <a:r>
              <a:rPr sz="1400">
                <a:solidFill>
                  <a:srgbClr val="FFFFFF"/>
                </a:solidFill>
                <a:latin typeface="Arial"/>
              </a:rPr>
              <a:t>P2: MSI/MSI-X interrupt support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FF8C00"/>
                </a:solidFill>
                <a:latin typeface="Arial"/>
              </a:rPr>
              <a:t>▸ </a:t>
            </a:r>
            <a:r>
              <a:rPr sz="1400">
                <a:solidFill>
                  <a:srgbClr val="FFFFFF"/>
                </a:solidFill>
                <a:latin typeface="Arial"/>
              </a:rPr>
              <a:t>P3: Multi-queue + descriptor ring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FF8C00"/>
                </a:solidFill>
                <a:latin typeface="Arial"/>
              </a:rPr>
              <a:t>▸ </a:t>
            </a:r>
            <a:r>
              <a:rPr sz="1400">
                <a:solidFill>
                  <a:srgbClr val="FFFFFF"/>
                </a:solidFill>
                <a:latin typeface="Arial"/>
              </a:rPr>
              <a:t>P3: Performance profiling &amp; optimization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FF8C00"/>
                </a:solidFill>
                <a:latin typeface="Arial"/>
              </a:rPr>
              <a:t>▸ </a:t>
            </a:r>
            <a:r>
              <a:rPr sz="1400">
                <a:solidFill>
                  <a:srgbClr val="FFFFFF"/>
                </a:solidFill>
                <a:latin typeface="Arial"/>
              </a:rPr>
              <a:t>P4: Full NIC data path (TX/RX packet flow)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FF8C00"/>
                </a:solidFill>
                <a:latin typeface="Arial"/>
              </a:rPr>
              <a:t>▸ </a:t>
            </a:r>
            <a:r>
              <a:rPr sz="1400">
                <a:solidFill>
                  <a:srgbClr val="FFFFFF"/>
                </a:solidFill>
                <a:latin typeface="Arial"/>
              </a:rPr>
              <a:t>P4: Integration with real DPU RTL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Daily Development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3657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BFF"/>
                </a:solidFill>
                <a:latin typeface="Arial"/>
              </a:defRPr>
            </a:pPr>
            <a:r>
              <a:t>Environment Setup (every login)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486400" cy="2560320"/>
          </a:xfrm>
          <a:prstGeom prst="round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000">
                <a:solidFill>
                  <a:srgbClr val="80FF80"/>
                </a:solidFill>
                <a:latin typeface="Consolas"/>
              </a:defRPr>
            </a:pPr>
            <a:r>
              <a:t># SSH to dev server</a:t>
            </a:r>
            <a:br/>
            <a:r>
              <a:t>ssh -p 2222 ryan@10.11.10.61</a:t>
            </a:r>
            <a:br/>
            <a:br/>
            <a:r>
              <a:t># Source environment (add to .bashrc)</a:t>
            </a:r>
            <a:br/>
            <a:r>
              <a:t>export PATH=/opt/cadence/spectre21/tools.lnx86\</a:t>
            </a:r>
            <a:br/>
            <a:r>
              <a:t>  /cdsgcc/gcc/9.3/install/bin:$PATH</a:t>
            </a:r>
            <a:br/>
            <a:r>
              <a:t>export PATH=$HOME/miniconda3/bin:$PATH</a:t>
            </a:r>
            <a:br/>
            <a:r>
              <a:t>export VCS_HOME=/opt/synopsys/vcs/U-2023.03</a:t>
            </a:r>
            <a:br/>
            <a:r>
              <a:t>export PATH=$VCS_HOME/bin:$PATH</a:t>
            </a:r>
            <a:br/>
            <a:r>
              <a:t>export LD_LIBRARY_PATH=$HOME/miniconda3/lib\</a:t>
            </a:r>
            <a:br/>
            <a:r>
              <a:t>  :$LD_LIBRARY_PATH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BFF"/>
                </a:solidFill>
                <a:latin typeface="Arial"/>
              </a:defRPr>
            </a:pPr>
            <a:r>
              <a:t>Build Cycle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846320"/>
            <a:ext cx="5486400" cy="1828800"/>
          </a:xfrm>
          <a:prstGeom prst="round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900">
                <a:solidFill>
                  <a:srgbClr val="80FF80"/>
                </a:solidFill>
                <a:latin typeface="Consolas"/>
              </a:defRPr>
            </a:pPr>
            <a:r>
              <a:t># 1. Rebuild bridge library</a:t>
            </a:r>
            <a:br/>
            <a:r>
              <a:t>cd ~/workspace/cosim-platform/build</a:t>
            </a:r>
            <a:br/>
            <a:r>
              <a:t>make -j$(nproc)</a:t>
            </a:r>
            <a:br/>
            <a:br/>
            <a:r>
              <a:t># 2. Run unit tests</a:t>
            </a:r>
            <a:br/>
            <a:r>
              <a:t>./test_shm_layout &amp;&amp; ./test_ring_buf \</a:t>
            </a:r>
            <a:br/>
            <a:r>
              <a:t>  &amp;&amp; ./test_sock_sync</a:t>
            </a:r>
            <a:br/>
            <a:br/>
            <a:r>
              <a:t># 3. Rebuild VCS testbench (if SV changed)</a:t>
            </a:r>
            <a:br/>
            <a:r>
              <a:t>cd ../vcs-tb &amp;&amp; &lt;vcs compile command&gt;</a:t>
            </a:r>
            <a:br/>
            <a:br/>
            <a:r>
              <a:t># 4. Run E2E test</a:t>
            </a:r>
            <a:br/>
            <a:r>
              <a:t># Terminal 1: ./build/test_vcs_e2e</a:t>
            </a:r>
            <a:br/>
            <a:r>
              <a:t># Terminal 2: ./vcs-tb/sim_build/simv 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BFF"/>
                </a:solidFill>
                <a:latin typeface="Arial"/>
              </a:defRPr>
            </a:pPr>
            <a:r>
              <a:t>Development Tips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007BFF"/>
                </a:solidFill>
                <a:latin typeface="Arial"/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Always run unit tests before E2E test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007BFF"/>
                </a:solidFill>
                <a:latin typeface="Arial"/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VCS recompile only needed when .sv files change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007BFF"/>
                </a:solidFill>
                <a:latin typeface="Arial"/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Bridge C code changes need both cmake build &amp; VCS recompile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007BFF"/>
                </a:solidFill>
                <a:latin typeface="Arial"/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Use +cosim_shm and +cosim_sock plusargs for custom paths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007BFF"/>
                </a:solidFill>
                <a:latin typeface="Arial"/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Check SHM exists: ls /dev/shm/cosim_*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007BFF"/>
                </a:solidFill>
                <a:latin typeface="Arial"/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Clean stale SHM: rm /dev/shm/cosim_*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007BFF"/>
                </a:solidFill>
                <a:latin typeface="Arial"/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Clean stale sockets: rm /tmp/cosim_*.sock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007BFF"/>
                </a:solidFill>
                <a:latin typeface="Arial"/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VCS waveform dump: simv +fsdb for debug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007BFF"/>
                </a:solidFill>
                <a:latin typeface="Arial"/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QEMU debug: -d guest_errors for PCIe issues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007BFF"/>
                </a:solidFill>
                <a:latin typeface="Arial"/>
              </a:rPr>
              <a:t>▸ </a:t>
            </a:r>
            <a:r>
              <a:rPr sz="1300">
                <a:solidFill>
                  <a:srgbClr val="FFFFFF"/>
                </a:solidFill>
                <a:latin typeface="Arial"/>
              </a:rPr>
              <a:t>Git workflow: feature branches, conventional commits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Implementation Roadmap (P2 - P4)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3657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BFF"/>
                </a:solidFill>
                <a:latin typeface="Arial"/>
              </a:defRPr>
            </a:pPr>
            <a:r>
              <a:t>P2: DMA &amp; Interrupts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474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>
                <a:solidFill>
                  <a:srgbClr val="007BFF"/>
                </a:solidFill>
                <a:latin typeface="Arial"/>
              </a:rPr>
              <a:t>▸ </a:t>
            </a:r>
            <a:r>
              <a:rPr sz="1100">
                <a:solidFill>
                  <a:srgbClr val="FFFFFF"/>
                </a:solidFill>
                <a:latin typeface="Arial"/>
              </a:rPr>
              <a:t>DMA Engine: Host-to-Card and Card-to-Host transfers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>
                <a:solidFill>
                  <a:srgbClr val="007BFF"/>
                </a:solidFill>
                <a:latin typeface="Arial"/>
              </a:rPr>
              <a:t>▸ </a:t>
            </a:r>
            <a:r>
              <a:rPr sz="1100">
                <a:solidFill>
                  <a:srgbClr val="FFFFFF"/>
                </a:solidFill>
                <a:latin typeface="Arial"/>
              </a:rPr>
              <a:t>DMA uses SHM for bulk data, socket for doorbell/notify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>
                <a:solidFill>
                  <a:srgbClr val="007BFF"/>
                </a:solidFill>
                <a:latin typeface="Arial"/>
              </a:rPr>
              <a:t>▸ </a:t>
            </a:r>
            <a:r>
              <a:rPr sz="1100">
                <a:solidFill>
                  <a:srgbClr val="FFFFFF"/>
                </a:solidFill>
                <a:latin typeface="Arial"/>
              </a:rPr>
              <a:t>MSI/MSI-X interrupt injection from VCS to QEMU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>
                <a:solidFill>
                  <a:srgbClr val="007BFF"/>
                </a:solidFill>
                <a:latin typeface="Arial"/>
              </a:rPr>
              <a:t>▸ </a:t>
            </a:r>
            <a:r>
              <a:rPr sz="1100">
                <a:solidFill>
                  <a:srgbClr val="FFFFFF"/>
                </a:solidFill>
                <a:latin typeface="Arial"/>
              </a:rPr>
              <a:t>Interrupt coalescing and throttling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>
                <a:solidFill>
                  <a:srgbClr val="007BFF"/>
                </a:solidFill>
                <a:latin typeface="Arial"/>
              </a:rPr>
              <a:t>▸ </a:t>
            </a:r>
            <a:r>
              <a:rPr sz="1100">
                <a:solidFill>
                  <a:srgbClr val="FFFFFF"/>
                </a:solidFill>
                <a:latin typeface="Arial"/>
              </a:rPr>
              <a:t>DMA scatter-gather list support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>
                <a:solidFill>
                  <a:srgbClr val="007BFF"/>
                </a:solidFill>
                <a:latin typeface="Arial"/>
              </a:rPr>
              <a:t>▸ </a:t>
            </a:r>
            <a:r>
              <a:rPr sz="1100">
                <a:solidFill>
                  <a:srgbClr val="FFFFFF"/>
                </a:solidFill>
                <a:latin typeface="Arial"/>
              </a:rPr>
              <a:t>Add DMA TLP types to cosim_types.h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>
                <a:solidFill>
                  <a:srgbClr val="007BFF"/>
                </a:solidFill>
                <a:latin typeface="Arial"/>
              </a:rPr>
              <a:t>▸ </a:t>
            </a:r>
            <a:r>
              <a:rPr sz="1100">
                <a:solidFill>
                  <a:srgbClr val="FFFFFF"/>
                </a:solidFill>
                <a:latin typeface="Arial"/>
              </a:rPr>
              <a:t>Extend ring buffer for large payloads (&gt;4B)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0" y="10972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C853"/>
                </a:solidFill>
                <a:latin typeface="Arial"/>
              </a:defRPr>
            </a:pPr>
            <a:r>
              <a:t>P3: Multi-Queue &amp;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0" y="1645920"/>
            <a:ext cx="3474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>
                <a:solidFill>
                  <a:srgbClr val="00C853"/>
                </a:solidFill>
                <a:latin typeface="Arial"/>
              </a:rPr>
              <a:t>▸ </a:t>
            </a:r>
            <a:r>
              <a:rPr sz="1100">
                <a:solidFill>
                  <a:srgbClr val="FFFFFF"/>
                </a:solidFill>
                <a:latin typeface="Arial"/>
              </a:rPr>
              <a:t>TX/RX descriptor ring implementation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>
                <a:solidFill>
                  <a:srgbClr val="00C853"/>
                </a:solidFill>
                <a:latin typeface="Arial"/>
              </a:rPr>
              <a:t>▸ </a:t>
            </a:r>
            <a:r>
              <a:rPr sz="1100">
                <a:solidFill>
                  <a:srgbClr val="FFFFFF"/>
                </a:solidFill>
                <a:latin typeface="Arial"/>
              </a:rPr>
              <a:t>Multiple queue support (RSS/multi-core)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>
                <a:solidFill>
                  <a:srgbClr val="00C853"/>
                </a:solidFill>
                <a:latin typeface="Arial"/>
              </a:rPr>
              <a:t>▸ </a:t>
            </a:r>
            <a:r>
              <a:rPr sz="1100">
                <a:solidFill>
                  <a:srgbClr val="FFFFFF"/>
                </a:solidFill>
                <a:latin typeface="Arial"/>
              </a:rPr>
              <a:t>Performance profiling: latency &amp; throughput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>
                <a:solidFill>
                  <a:srgbClr val="00C853"/>
                </a:solidFill>
                <a:latin typeface="Arial"/>
              </a:rPr>
              <a:t>▸ </a:t>
            </a:r>
            <a:r>
              <a:rPr sz="1100">
                <a:solidFill>
                  <a:srgbClr val="FFFFFF"/>
                </a:solidFill>
                <a:latin typeface="Arial"/>
              </a:rPr>
              <a:t>Ring buffer optimization (batch operations)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>
                <a:solidFill>
                  <a:srgbClr val="00C853"/>
                </a:solidFill>
                <a:latin typeface="Arial"/>
              </a:rPr>
              <a:t>▸ </a:t>
            </a:r>
            <a:r>
              <a:rPr sz="1100">
                <a:solidFill>
                  <a:srgbClr val="FFFFFF"/>
                </a:solidFill>
                <a:latin typeface="Arial"/>
              </a:rPr>
              <a:t>Socket protocol optimization (reduce syscalls)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>
                <a:solidFill>
                  <a:srgbClr val="00C853"/>
                </a:solidFill>
                <a:latin typeface="Arial"/>
              </a:rPr>
              <a:t>▸ </a:t>
            </a:r>
            <a:r>
              <a:rPr sz="1100">
                <a:solidFill>
                  <a:srgbClr val="FFFFFF"/>
                </a:solidFill>
                <a:latin typeface="Arial"/>
              </a:rPr>
              <a:t>SHM layout v2: per-queue ring buffers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>
                <a:solidFill>
                  <a:srgbClr val="00C853"/>
                </a:solidFill>
                <a:latin typeface="Arial"/>
              </a:rPr>
              <a:t>▸ </a:t>
            </a:r>
            <a:r>
              <a:rPr sz="1100">
                <a:solidFill>
                  <a:srgbClr val="FFFFFF"/>
                </a:solidFill>
                <a:latin typeface="Arial"/>
              </a:rPr>
              <a:t>Benchmark suite: ops/sec, latency histogram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09728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00"/>
                </a:solidFill>
                <a:latin typeface="Arial"/>
              </a:defRPr>
            </a:pPr>
            <a:r>
              <a:t>P4: Full NIC Data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645920"/>
            <a:ext cx="3474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>
                <a:solidFill>
                  <a:srgbClr val="FF8C00"/>
                </a:solidFill>
                <a:latin typeface="Arial"/>
              </a:rPr>
              <a:t>▸ </a:t>
            </a:r>
            <a:r>
              <a:rPr sz="1100">
                <a:solidFill>
                  <a:srgbClr val="FFFFFF"/>
                </a:solidFill>
                <a:latin typeface="Arial"/>
              </a:rPr>
              <a:t>Complete TX path: descriptor -&gt; DMA -&gt; TLP -&gt; EP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>
                <a:solidFill>
                  <a:srgbClr val="FF8C00"/>
                </a:solidFill>
                <a:latin typeface="Arial"/>
              </a:rPr>
              <a:t>▸ </a:t>
            </a:r>
            <a:r>
              <a:rPr sz="1100">
                <a:solidFill>
                  <a:srgbClr val="FFFFFF"/>
                </a:solidFill>
                <a:latin typeface="Arial"/>
              </a:rPr>
              <a:t>Complete RX path: EP -&gt; TLP -&gt; DMA -&gt; descriptor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>
                <a:solidFill>
                  <a:srgbClr val="FF8C00"/>
                </a:solidFill>
                <a:latin typeface="Arial"/>
              </a:rPr>
              <a:t>▸ </a:t>
            </a:r>
            <a:r>
              <a:rPr sz="1100">
                <a:solidFill>
                  <a:srgbClr val="FFFFFF"/>
                </a:solidFill>
                <a:latin typeface="Arial"/>
              </a:rPr>
              <a:t>Network stack integration in QEMU guest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>
                <a:solidFill>
                  <a:srgbClr val="FF8C00"/>
                </a:solidFill>
                <a:latin typeface="Arial"/>
              </a:rPr>
              <a:t>▸ </a:t>
            </a:r>
            <a:r>
              <a:rPr sz="1100">
                <a:solidFill>
                  <a:srgbClr val="FFFFFF"/>
                </a:solidFill>
                <a:latin typeface="Arial"/>
              </a:rPr>
              <a:t>Real DPU/SmartNIC RTL integration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>
                <a:solidFill>
                  <a:srgbClr val="FF8C00"/>
                </a:solidFill>
                <a:latin typeface="Arial"/>
              </a:rPr>
              <a:t>▸ </a:t>
            </a:r>
            <a:r>
              <a:rPr sz="1100">
                <a:solidFill>
                  <a:srgbClr val="FFFFFF"/>
                </a:solidFill>
                <a:latin typeface="Arial"/>
              </a:rPr>
              <a:t>Driver development for custom NIC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>
                <a:solidFill>
                  <a:srgbClr val="FF8C00"/>
                </a:solidFill>
                <a:latin typeface="Arial"/>
              </a:rPr>
              <a:t>▸ </a:t>
            </a:r>
            <a:r>
              <a:rPr sz="1100">
                <a:solidFill>
                  <a:srgbClr val="FFFFFF"/>
                </a:solidFill>
                <a:latin typeface="Arial"/>
              </a:rPr>
              <a:t>CI/CD pipeline for regression testing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>
                <a:solidFill>
                  <a:srgbClr val="FF8C00"/>
                </a:solidFill>
                <a:latin typeface="Arial"/>
              </a:rPr>
              <a:t>▸ </a:t>
            </a:r>
            <a:r>
              <a:rPr sz="1100">
                <a:solidFill>
                  <a:srgbClr val="FFFFFF"/>
                </a:solidFill>
                <a:latin typeface="Arial"/>
              </a:rPr>
              <a:t>Documentation and handoff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rial"/>
              </a:defRPr>
            </a:pPr>
            <a:r>
              <a:t>Key File Paths &amp; Reference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247120" cy="3657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BFF"/>
                </a:solidFill>
                <a:latin typeface="Arial"/>
              </a:defRPr>
            </a:pPr>
            <a:r>
              <a:t>Project 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486400" cy="4754880"/>
          </a:xfrm>
          <a:prstGeom prst="round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900">
                <a:solidFill>
                  <a:srgbClr val="80FF80"/>
                </a:solidFill>
                <a:latin typeface="Consolas"/>
              </a:defRPr>
            </a:pPr>
            <a:r>
              <a:t>cosim-platform/</a:t>
            </a:r>
            <a:br/>
            <a:r>
              <a:t>  include/</a:t>
            </a:r>
            <a:br/>
            <a:r>
              <a:t>    cosim_types.h      # TLP/CPL/Sync types</a:t>
            </a:r>
            <a:br/>
            <a:r>
              <a:t>    shm_layout.h       # SHM API</a:t>
            </a:r>
            <a:br/>
            <a:r>
              <a:t>    ring_buf.h         # Ring buffer API</a:t>
            </a:r>
            <a:br/>
            <a:r>
              <a:t>    sock_sync.h        # Socket sync API</a:t>
            </a:r>
            <a:br/>
            <a:r>
              <a:t>  bridge/</a:t>
            </a:r>
            <a:br/>
            <a:r>
              <a:t>    common/             # Shared C sources</a:t>
            </a:r>
            <a:br/>
            <a:r>
              <a:t>      shm_layout.c</a:t>
            </a:r>
            <a:br/>
            <a:r>
              <a:t>      ring_buf.c</a:t>
            </a:r>
            <a:br/>
            <a:r>
              <a:t>    qemu/</a:t>
            </a:r>
            <a:br/>
            <a:r>
              <a:t>      bridge_qemu.c/h  # QEMU-side bridge</a:t>
            </a:r>
            <a:br/>
            <a:r>
              <a:t>    vcs/</a:t>
            </a:r>
            <a:br/>
            <a:r>
              <a:t>      bridge_vcs.c     # VCS DPI-C bridge</a:t>
            </a:r>
            <a:br/>
            <a:r>
              <a:t>      bridge_vcs.sv    # SV package</a:t>
            </a:r>
            <a:br/>
            <a:r>
              <a:t>      sock_sync_vcs.c  # VCS socket impl</a:t>
            </a:r>
            <a:br/>
            <a:r>
              <a:t>  qemu-plugin/</a:t>
            </a:r>
            <a:br/>
            <a:r>
              <a:t>    cosim_pcie_rc.c/h  # QEMU PCIe RC device</a:t>
            </a:r>
            <a:br/>
            <a:r>
              <a:t>  vcs-tb/</a:t>
            </a:r>
            <a:br/>
            <a:r>
              <a:t>    tb_top.sv           # Testbench top</a:t>
            </a:r>
            <a:br/>
            <a:r>
              <a:t>    pcie_ep_stub.sv     # EP register model</a:t>
            </a:r>
            <a:br/>
            <a:r>
              <a:t>  tests/</a:t>
            </a:r>
            <a:br/>
            <a:r>
              <a:t>    unit/                # Unit tests</a:t>
            </a:r>
            <a:br/>
            <a:r>
              <a:t>    integration/         # E2E test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BFF"/>
                </a:solidFill>
                <a:latin typeface="Arial"/>
              </a:defRPr>
            </a:pPr>
            <a:r>
              <a:t>Remote Server Paths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029200" cy="3200400"/>
          </a:xfrm>
          <a:prstGeom prst="round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defRPr sz="1000">
                <a:solidFill>
                  <a:srgbClr val="80FF80"/>
                </a:solidFill>
                <a:latin typeface="Consolas"/>
              </a:defRPr>
            </a:pPr>
            <a:r>
              <a:t>Server: 10.11.10.61:2222 (ryan/Ryan@2025)</a:t>
            </a:r>
            <a:br/>
            <a:br/>
            <a:r>
              <a:t>Project:  ~/workspace/cosim-platform/</a:t>
            </a:r>
            <a:br/>
            <a:r>
              <a:t>QEMU:     ~/workspace/qemu-9.2.0/</a:t>
            </a:r>
            <a:br/>
            <a:r>
              <a:t>QEMU bin: ~/workspace/qemu-9.2.0/build/</a:t>
            </a:r>
            <a:br/>
            <a:r>
              <a:t>          qemu-system-x86_64</a:t>
            </a:r>
            <a:br/>
            <a:r>
              <a:t>VCS simv: ~/workspace/cosim-platform/</a:t>
            </a:r>
            <a:br/>
            <a:r>
              <a:t>          vcs-tb/sim_build/simv</a:t>
            </a:r>
            <a:br/>
            <a:r>
              <a:t>E2E test: ~/workspace/cosim-platform/</a:t>
            </a:r>
            <a:br/>
            <a:r>
              <a:t>          build/test_vcs_e2e</a:t>
            </a:r>
            <a:br/>
            <a:br/>
            <a:r>
              <a:t>GCC 9.3:  /opt/cadence/spectre21/</a:t>
            </a:r>
            <a:br/>
            <a:r>
              <a:t>  tools.lnx86/cdsgcc/gcc/9.3/install/bin/gcc</a:t>
            </a:r>
            <a:br/>
            <a:r>
              <a:t>Python:   ~/miniconda3/bin/python3</a:t>
            </a:r>
            <a:br/>
            <a:r>
              <a:t>VCS:      /opt/synopsys/vcs/U-2023.03/bin/vcs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5029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BFF"/>
                </a:solidFill>
                <a:latin typeface="Arial"/>
              </a:defRPr>
            </a:pPr>
            <a:r>
              <a:t>GitHub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5486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Arial"/>
              </a:defRPr>
            </a:pPr>
            <a:r>
              <a:t>github.com/ryanabx/cosim-platform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914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Summary &amp;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1828800"/>
            <a:ext cx="4846320" cy="3657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C853"/>
                </a:solidFill>
                <a:latin typeface="Arial"/>
              </a:defRPr>
            </a:pPr>
            <a:r>
              <a:t>P1 BAR MMIO verification is complete and fully tested.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BFF"/>
                </a:solidFill>
                <a:latin typeface="Arial"/>
              </a:defRPr>
            </a:pPr>
            <a:r>
              <a:t>What We Proved: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00C853"/>
                </a:solidFill>
                <a:latin typeface="Arial"/>
              </a:rPr>
              <a:t>▸ </a:t>
            </a:r>
            <a:r>
              <a:rPr sz="1400">
                <a:solidFill>
                  <a:srgbClr val="FFFFFF"/>
                </a:solidFill>
                <a:latin typeface="Arial"/>
              </a:rPr>
              <a:t>QEMU &lt;-&gt; VCS communication works via SHM+Socket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00C853"/>
                </a:solidFill>
                <a:latin typeface="Arial"/>
              </a:rPr>
              <a:t>▸ </a:t>
            </a:r>
            <a:r>
              <a:rPr sz="1400">
                <a:solidFill>
                  <a:srgbClr val="FFFFFF"/>
                </a:solidFill>
                <a:latin typeface="Arial"/>
              </a:rPr>
              <a:t>PCIe TLP MRd/MWr packets flow correctly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00C853"/>
                </a:solidFill>
                <a:latin typeface="Arial"/>
              </a:rPr>
              <a:t>▸ </a:t>
            </a:r>
            <a:r>
              <a:rPr sz="1400">
                <a:solidFill>
                  <a:srgbClr val="FFFFFF"/>
                </a:solidFill>
                <a:latin typeface="Arial"/>
              </a:rPr>
              <a:t>Register read/write/readback verified end-to-end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00C853"/>
                </a:solidFill>
                <a:latin typeface="Arial"/>
              </a:rPr>
              <a:t>▸ </a:t>
            </a:r>
            <a:r>
              <a:rPr sz="1400">
                <a:solidFill>
                  <a:srgbClr val="FFFFFF"/>
                </a:solidFill>
                <a:latin typeface="Arial"/>
              </a:rPr>
              <a:t>Lock-free ring buffers handle IPC reliably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00C853"/>
                </a:solidFill>
                <a:latin typeface="Arial"/>
              </a:rPr>
              <a:t>▸ </a:t>
            </a:r>
            <a:r>
              <a:rPr sz="1400">
                <a:solidFill>
                  <a:srgbClr val="FFFFFF"/>
                </a:solidFill>
                <a:latin typeface="Arial"/>
              </a:rPr>
              <a:t>DPI-C bridge integrates cleanly with VCS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2004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00"/>
                </a:solidFill>
                <a:latin typeface="Arial"/>
              </a:defRPr>
            </a:pPr>
            <a:r>
              <a:t>Immediate Next Steps: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65760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FF8C00"/>
                </a:solidFill>
                <a:latin typeface="Arial"/>
              </a:rPr>
              <a:t>▸ </a:t>
            </a:r>
            <a:r>
              <a:rPr sz="1400">
                <a:solidFill>
                  <a:srgbClr val="FFFFFF"/>
                </a:solidFill>
                <a:latin typeface="Arial"/>
              </a:rPr>
              <a:t>Boot Linux guest in QEMU with cosim-pcie-rc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FF8C00"/>
                </a:solidFill>
                <a:latin typeface="Arial"/>
              </a:rPr>
              <a:t>▸ </a:t>
            </a:r>
            <a:r>
              <a:rPr sz="1400">
                <a:solidFill>
                  <a:srgbClr val="FFFFFF"/>
                </a:solidFill>
                <a:latin typeface="Arial"/>
              </a:rPr>
              <a:t>Run live QEMU + VCS co-simulation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FF8C00"/>
                </a:solidFill>
                <a:latin typeface="Arial"/>
              </a:rPr>
              <a:t>▸ </a:t>
            </a:r>
            <a:r>
              <a:rPr sz="1400">
                <a:solidFill>
                  <a:srgbClr val="FFFFFF"/>
                </a:solidFill>
                <a:latin typeface="Arial"/>
              </a:rPr>
              <a:t>Begin P2: DMA engine design &amp; implementation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FF8C00"/>
                </a:solidFill>
                <a:latin typeface="Arial"/>
              </a:rPr>
              <a:t>▸ </a:t>
            </a:r>
            <a:r>
              <a:rPr sz="1400">
                <a:solidFill>
                  <a:srgbClr val="FFFFFF"/>
                </a:solidFill>
                <a:latin typeface="Arial"/>
              </a:rPr>
              <a:t>Add MSI/MSI-X interrupt support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>
                <a:solidFill>
                  <a:srgbClr val="FF8C00"/>
                </a:solidFill>
                <a:latin typeface="Arial"/>
              </a:rPr>
              <a:t>▸ </a:t>
            </a:r>
            <a:r>
              <a:rPr sz="1400">
                <a:solidFill>
                  <a:srgbClr val="FFFFFF"/>
                </a:solidFill>
                <a:latin typeface="Arial"/>
              </a:rPr>
              <a:t>Expand EP stub for DMA capabilities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88"/>
                </a:solidFill>
                <a:latin typeface="Arial"/>
              </a:defRPr>
            </a:pPr>
            <a:r>
              <a:t>QEMU-VCS Co-simulation Platform | 2026-04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